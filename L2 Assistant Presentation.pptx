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 ·  GENERATIVE AI FOR IT SERVICE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GenAI-Powered L2 Support Assistant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incident analysis, guided resolutions, and continuous learning — built into ServiceNow.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resolution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hackathon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L2 support teams need a smarter way to resolve incidents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knowledge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tickets, KB articles, runbooks and logs all live in different places — engineers manually search across all of them.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9933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triage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84448" y="338328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right resolution steps for a complex incident is time-consuming, directly inflating MTTR.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5087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5518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9933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manual work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19088" y="338328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contextual recommendations leads to engineers re-triaging incidents that closely resemble past ones.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5087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982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19933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resolutions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53728" y="338328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keyword search tools ignore incident patterns and environment-specific nuances, producing inconsistent fixes.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— and what was implemented for this hackathon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7276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Generative AI-powered L2 assistant that understands incident context, analyses ServiceNow tickets in real time, and delivers guided, consistent resolution steps — improving engineer productivity, consistency, and resolution speed.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implemented in this build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741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3291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pipeline (BM25 + dense vector retrieval, RRF fusion) over tickets, KB articles and runbooks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7413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38544" y="3291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with ServiceNow webhook trigger on incident create/update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3425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9264" y="4251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structured recommendations: probable root cause, triage steps, remediation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334256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38544" y="4251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anonymization pipeline applied before any data reaches the LLM or vector store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94376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9264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feedback capture + periodic source quality re-scoring (continuous tuning)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5294376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38544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logging, and a ServiceNow sidebar widget + simulator for demoing inline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GenAI assistant fits into the L2 engineer's world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6350">
            <a:solidFill>
              <a:srgbClr val="D0DA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Incidents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801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tickets &amp; resolution notes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242316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6350">
            <a:solidFill>
              <a:srgbClr val="D0DA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532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Articles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runbooks, troubleshooting guides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352044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6350">
            <a:solidFill>
              <a:srgbClr val="D0DA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630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CMDB &amp; Service Config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995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services, applications, owners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461772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6350">
            <a:solidFill>
              <a:srgbClr val="D0DAE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8920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4727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Logs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5093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 AppDynamics events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154680" y="1783080"/>
            <a:ext cx="59436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3154680" y="2880360"/>
            <a:ext cx="59436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3154680" y="3977640"/>
            <a:ext cx="59436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3154680" y="5074920"/>
            <a:ext cx="59436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3749040" y="1234440"/>
            <a:ext cx="4663440" cy="466344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384048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L2 Assistant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3931920" y="1965960"/>
            <a:ext cx="4297680" cy="768096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/>
        </p:spPr>
      </p:sp>
      <p:sp>
        <p:nvSpPr>
          <p:cNvPr id="28" name="Shape 22"/>
          <p:cNvSpPr/>
          <p:nvPr/>
        </p:nvSpPr>
        <p:spPr>
          <a:xfrm>
            <a:off x="4069080" y="213055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224028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1772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Ingest &amp; Anonymize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617720" y="23682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masked; tickets, KBs and logs indexed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931920" y="2862072"/>
            <a:ext cx="4297680" cy="768096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/>
        </p:spPr>
      </p:sp>
      <p:sp>
        <p:nvSpPr>
          <p:cNvPr id="33" name="Shape 26"/>
          <p:cNvSpPr/>
          <p:nvPr/>
        </p:nvSpPr>
        <p:spPr>
          <a:xfrm>
            <a:off x="4069080" y="302666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313639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61772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Hybrid Retrieve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61772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vector search, RRF fusion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931920" y="3758184"/>
            <a:ext cx="4297680" cy="768096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/>
        </p:spPr>
      </p:sp>
      <p:sp>
        <p:nvSpPr>
          <p:cNvPr id="38" name="Shape 30"/>
          <p:cNvSpPr/>
          <p:nvPr/>
        </p:nvSpPr>
        <p:spPr>
          <a:xfrm>
            <a:off x="4069080" y="392277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808" y="4032504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17720" y="3849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LLM Analyse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4617720" y="4160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Claude: root cause + triage steps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3931920" y="4654296"/>
            <a:ext cx="4297680" cy="768096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/>
        </p:spPr>
      </p:sp>
      <p:sp>
        <p:nvSpPr>
          <p:cNvPr id="43" name="Shape 34"/>
          <p:cNvSpPr/>
          <p:nvPr/>
        </p:nvSpPr>
        <p:spPr>
          <a:xfrm>
            <a:off x="4069080" y="4818888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808" y="4928616"/>
            <a:ext cx="219456" cy="21945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617720" y="4745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Recommend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4617720" y="5056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confidence score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8412480" y="1645920"/>
            <a:ext cx="50292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48" name="Shape 38"/>
          <p:cNvSpPr/>
          <p:nvPr/>
        </p:nvSpPr>
        <p:spPr>
          <a:xfrm>
            <a:off x="8412480" y="2606040"/>
            <a:ext cx="50292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8412480" y="3520440"/>
            <a:ext cx="50292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8412480" y="4434840"/>
            <a:ext cx="502920" cy="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51" name="Text 41"/>
          <p:cNvSpPr/>
          <p:nvPr/>
        </p:nvSpPr>
        <p:spPr>
          <a:xfrm>
            <a:off x="8915400" y="1097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EXPERIENCE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8915400" y="1325880"/>
            <a:ext cx="2926080" cy="804672"/>
          </a:xfrm>
          <a:prstGeom prst="roundRect">
            <a:avLst>
              <a:gd name="adj" fmla="val 7955"/>
            </a:avLst>
          </a:prstGeom>
          <a:solidFill>
            <a:srgbClr val="EBF3FB"/>
          </a:solidFill>
          <a:ln w="6350">
            <a:solidFill>
              <a:srgbClr val="C8DCE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1572768"/>
            <a:ext cx="310896" cy="31089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94640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150" dirty="0"/>
          </a:p>
        </p:txBody>
      </p:sp>
      <p:sp>
        <p:nvSpPr>
          <p:cNvPr id="55" name="Text 44"/>
          <p:cNvSpPr/>
          <p:nvPr/>
        </p:nvSpPr>
        <p:spPr>
          <a:xfrm>
            <a:off x="9464040" y="1728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cause with reasoning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8915400" y="2286000"/>
            <a:ext cx="2926080" cy="804672"/>
          </a:xfrm>
          <a:prstGeom prst="roundRect">
            <a:avLst>
              <a:gd name="adj" fmla="val 7955"/>
            </a:avLst>
          </a:prstGeom>
          <a:solidFill>
            <a:srgbClr val="EBF3FB"/>
          </a:solidFill>
          <a:ln w="6350">
            <a:solidFill>
              <a:srgbClr val="C8DCE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532888"/>
            <a:ext cx="310896" cy="31089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94640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Steps</a:t>
            </a:r>
            <a:endParaRPr lang="en-US" sz="1150" dirty="0"/>
          </a:p>
        </p:txBody>
      </p:sp>
      <p:sp>
        <p:nvSpPr>
          <p:cNvPr id="59" name="Text 47"/>
          <p:cNvSpPr/>
          <p:nvPr/>
        </p:nvSpPr>
        <p:spPr>
          <a:xfrm>
            <a:off x="9464040" y="26883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remediation actions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8915400" y="3246120"/>
            <a:ext cx="2926080" cy="804672"/>
          </a:xfrm>
          <a:prstGeom prst="roundRect">
            <a:avLst>
              <a:gd name="adj" fmla="val 7955"/>
            </a:avLst>
          </a:prstGeom>
          <a:solidFill>
            <a:srgbClr val="EBF3FB"/>
          </a:solidFill>
          <a:ln w="6350">
            <a:solidFill>
              <a:srgbClr val="C8DCE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3493008"/>
            <a:ext cx="310896" cy="310896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94640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Cases</a:t>
            </a:r>
            <a:endParaRPr lang="en-US" sz="1150" dirty="0"/>
          </a:p>
        </p:txBody>
      </p:sp>
      <p:sp>
        <p:nvSpPr>
          <p:cNvPr id="63" name="Text 50"/>
          <p:cNvSpPr/>
          <p:nvPr/>
        </p:nvSpPr>
        <p:spPr>
          <a:xfrm>
            <a:off x="9464040" y="3648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past incident links</a:t>
            </a:r>
            <a:endParaRPr lang="en-US" sz="950" dirty="0"/>
          </a:p>
        </p:txBody>
      </p:sp>
      <p:sp>
        <p:nvSpPr>
          <p:cNvPr id="64" name="Shape 51"/>
          <p:cNvSpPr/>
          <p:nvPr/>
        </p:nvSpPr>
        <p:spPr>
          <a:xfrm>
            <a:off x="8915400" y="4206240"/>
            <a:ext cx="2926080" cy="804672"/>
          </a:xfrm>
          <a:prstGeom prst="roundRect">
            <a:avLst>
              <a:gd name="adj" fmla="val 7955"/>
            </a:avLst>
          </a:prstGeom>
          <a:solidFill>
            <a:srgbClr val="EBF3FB"/>
          </a:solidFill>
          <a:ln w="6350">
            <a:solidFill>
              <a:srgbClr val="C8DCE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2560" y="4453128"/>
            <a:ext cx="310896" cy="310896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946404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Notes</a:t>
            </a:r>
            <a:endParaRPr lang="en-US" sz="1150" dirty="0"/>
          </a:p>
        </p:txBody>
      </p:sp>
      <p:sp>
        <p:nvSpPr>
          <p:cNvPr id="67" name="Text 53"/>
          <p:cNvSpPr/>
          <p:nvPr/>
        </p:nvSpPr>
        <p:spPr>
          <a:xfrm>
            <a:off x="9464040" y="46085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resolution notes</a:t>
            </a:r>
            <a:endParaRPr lang="en-US" sz="950" dirty="0"/>
          </a:p>
        </p:txBody>
      </p:sp>
      <p:sp>
        <p:nvSpPr>
          <p:cNvPr id="68" name="Shape 54"/>
          <p:cNvSpPr/>
          <p:nvPr/>
        </p:nvSpPr>
        <p:spPr>
          <a:xfrm>
            <a:off x="3749040" y="6035040"/>
            <a:ext cx="2103120" cy="59436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/>
        </p:spPr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6200" y="6153912"/>
            <a:ext cx="292608" cy="292608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4251960" y="6126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Trigger</a:t>
            </a:r>
            <a:endParaRPr lang="en-US" sz="1000" dirty="0"/>
          </a:p>
        </p:txBody>
      </p:sp>
      <p:sp>
        <p:nvSpPr>
          <p:cNvPr id="71" name="Shape 56"/>
          <p:cNvSpPr/>
          <p:nvPr/>
        </p:nvSpPr>
        <p:spPr>
          <a:xfrm>
            <a:off x="4800600" y="6035040"/>
            <a:ext cx="0" cy="-45720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72" name="Shape 57"/>
          <p:cNvSpPr/>
          <p:nvPr/>
        </p:nvSpPr>
        <p:spPr>
          <a:xfrm>
            <a:off x="6400800" y="603504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029678"/>
          </a:solidFill>
          <a:ln/>
        </p:spPr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6153912"/>
            <a:ext cx="292608" cy="29260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6903720" y="6126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Feedback</a:t>
            </a:r>
            <a:endParaRPr lang="en-US" sz="1000" dirty="0"/>
          </a:p>
        </p:txBody>
      </p:sp>
      <p:sp>
        <p:nvSpPr>
          <p:cNvPr id="75" name="Shape 59"/>
          <p:cNvSpPr/>
          <p:nvPr/>
        </p:nvSpPr>
        <p:spPr>
          <a:xfrm>
            <a:off x="7406640" y="6035040"/>
            <a:ext cx="0" cy="-45720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Architecture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view — from ServiceNow ingress to data stores and observability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11000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·  TRIGGER LAYER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327" y="13075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6639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/ Request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0759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29838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130759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3036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Webhook (Business Rule)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922" y="130759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76234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121" y="1307592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49433" y="1307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Widget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6094476" y="1709928"/>
            <a:ext cx="0" cy="164592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17" name="Shape 10"/>
          <p:cNvSpPr/>
          <p:nvPr/>
        </p:nvSpPr>
        <p:spPr>
          <a:xfrm>
            <a:off x="411480" y="187452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05740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78408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  ·  FastAPI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85800" y="238658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(HMAC + JWT) · CORS · Rate limiting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/analyse  /chat  /feedback  /incidents  /health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6035040" y="1874520"/>
            <a:ext cx="5742432" cy="96012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057400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01968" y="2039112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WORKERS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309360" y="2386584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worker · Reindex (beat/15 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aggregation &amp; source re-scoring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6094476" y="2834640"/>
            <a:ext cx="0" cy="164592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6" name="Shape 17"/>
          <p:cNvSpPr/>
          <p:nvPr/>
        </p:nvSpPr>
        <p:spPr>
          <a:xfrm>
            <a:off x="411480" y="2999232"/>
            <a:ext cx="11365992" cy="1417320"/>
          </a:xfrm>
          <a:prstGeom prst="roundRect">
            <a:avLst>
              <a:gd name="adj" fmla="val 3871"/>
            </a:avLst>
          </a:prstGeom>
          <a:solidFill>
            <a:srgbClr val="029678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163824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4300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ENGINE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640080" y="3657600"/>
            <a:ext cx="2181758" cy="694944"/>
          </a:xfrm>
          <a:prstGeom prst="roundRect">
            <a:avLst>
              <a:gd name="adj" fmla="val 6579"/>
            </a:avLst>
          </a:prstGeom>
          <a:solidFill>
            <a:srgbClr val="027A5E"/>
          </a:solidFill>
          <a:ln/>
        </p:spPr>
      </p:sp>
      <p:sp>
        <p:nvSpPr>
          <p:cNvPr id="30" name="Text 20"/>
          <p:cNvSpPr/>
          <p:nvPr/>
        </p:nvSpPr>
        <p:spPr>
          <a:xfrm>
            <a:off x="713232" y="3675888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Retriever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713232" y="3913632"/>
            <a:ext cx="20354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(Pinecone) + Sparse (BM25)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(k=60)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re-rank</a:t>
            </a:r>
            <a:endParaRPr lang="en-US" sz="800" dirty="0"/>
          </a:p>
        </p:txBody>
      </p:sp>
      <p:sp>
        <p:nvSpPr>
          <p:cNvPr id="32" name="Shape 22"/>
          <p:cNvSpPr/>
          <p:nvPr/>
        </p:nvSpPr>
        <p:spPr>
          <a:xfrm>
            <a:off x="2840126" y="3657600"/>
            <a:ext cx="2181758" cy="694944"/>
          </a:xfrm>
          <a:prstGeom prst="roundRect">
            <a:avLst>
              <a:gd name="adj" fmla="val 6579"/>
            </a:avLst>
          </a:prstGeom>
          <a:solidFill>
            <a:srgbClr val="027A5E"/>
          </a:solidFill>
          <a:ln/>
        </p:spPr>
      </p:sp>
      <p:sp>
        <p:nvSpPr>
          <p:cNvPr id="33" name="Text 23"/>
          <p:cNvSpPr/>
          <p:nvPr/>
        </p:nvSpPr>
        <p:spPr>
          <a:xfrm>
            <a:off x="2913278" y="3675888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Service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2913278" y="3913632"/>
            <a:ext cx="20354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text embedding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OpenAI text-embedding-3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pgvector &amp; Pinecone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5040173" y="3657600"/>
            <a:ext cx="2181758" cy="694944"/>
          </a:xfrm>
          <a:prstGeom prst="roundRect">
            <a:avLst>
              <a:gd name="adj" fmla="val 6579"/>
            </a:avLst>
          </a:prstGeom>
          <a:solidFill>
            <a:srgbClr val="027A5E"/>
          </a:solidFill>
          <a:ln/>
        </p:spPr>
      </p:sp>
      <p:sp>
        <p:nvSpPr>
          <p:cNvPr id="36" name="Text 26"/>
          <p:cNvSpPr/>
          <p:nvPr/>
        </p:nvSpPr>
        <p:spPr>
          <a:xfrm>
            <a:off x="5113325" y="3675888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Client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5113325" y="3913632"/>
            <a:ext cx="20354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Azure OpenAI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fallback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7240219" y="3657600"/>
            <a:ext cx="2181758" cy="694944"/>
          </a:xfrm>
          <a:prstGeom prst="roundRect">
            <a:avLst>
              <a:gd name="adj" fmla="val 6579"/>
            </a:avLst>
          </a:prstGeom>
          <a:solidFill>
            <a:srgbClr val="027A5E"/>
          </a:solidFill>
          <a:ln/>
        </p:spPr>
      </p:sp>
      <p:sp>
        <p:nvSpPr>
          <p:cNvPr id="39" name="Text 29"/>
          <p:cNvSpPr/>
          <p:nvPr/>
        </p:nvSpPr>
        <p:spPr>
          <a:xfrm>
            <a:off x="7313371" y="3675888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Assembler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7313371" y="3913632"/>
            <a:ext cx="20354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dedup, metadata attach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scorer (&lt;0.6 → L3 flag)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9440266" y="3657600"/>
            <a:ext cx="2181758" cy="694944"/>
          </a:xfrm>
          <a:prstGeom prst="roundRect">
            <a:avLst>
              <a:gd name="adj" fmla="val 6579"/>
            </a:avLst>
          </a:prstGeom>
          <a:solidFill>
            <a:srgbClr val="027A5E"/>
          </a:solidFill>
          <a:ln/>
        </p:spPr>
      </p:sp>
      <p:sp>
        <p:nvSpPr>
          <p:cNvPr id="42" name="Text 32"/>
          <p:cNvSpPr/>
          <p:nvPr/>
        </p:nvSpPr>
        <p:spPr>
          <a:xfrm>
            <a:off x="9513418" y="3675888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Orchestrator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9513418" y="3913632"/>
            <a:ext cx="20354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coordination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6094476" y="4416552"/>
            <a:ext cx="0" cy="164592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411480" y="4581144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745736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78408" y="47457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685800" y="50932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Anonymizer (regex + NER) — runs before embeddings/LLM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(L2 / L3 / admin) · Structured audit logger · Synthetic test datasets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5943600" y="4581144"/>
            <a:ext cx="5833872" cy="96012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745736"/>
            <a:ext cx="292608" cy="29260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510528" y="474573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</a:t>
            </a:r>
            <a:endParaRPr lang="en-US" sz="1300" dirty="0"/>
          </a:p>
        </p:txBody>
      </p:sp>
      <p:sp>
        <p:nvSpPr>
          <p:cNvPr id="52" name="Text 40"/>
          <p:cNvSpPr/>
          <p:nvPr/>
        </p:nvSpPr>
        <p:spPr>
          <a:xfrm>
            <a:off x="6217920" y="5093208"/>
            <a:ext cx="5285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KB / runbook processor · NLP classification · Summarization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chunking · NER entity extraction · CMDB enricher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094476" y="5541264"/>
            <a:ext cx="0" cy="164592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54" name="Shape 42"/>
          <p:cNvSpPr/>
          <p:nvPr/>
        </p:nvSpPr>
        <p:spPr>
          <a:xfrm>
            <a:off x="411480" y="5705856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5888736"/>
            <a:ext cx="292608" cy="292608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978408" y="5870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STORES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640080" y="6217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 ·  Pinecone  ·  Redis (cache &amp; queue)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 ·  Feedback weights table</a:t>
            </a:r>
            <a:endParaRPr lang="en-US" sz="950" dirty="0"/>
          </a:p>
        </p:txBody>
      </p:sp>
      <p:sp>
        <p:nvSpPr>
          <p:cNvPr id="58" name="Shape 45"/>
          <p:cNvSpPr/>
          <p:nvPr/>
        </p:nvSpPr>
        <p:spPr>
          <a:xfrm>
            <a:off x="4754880" y="5705856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5888736"/>
            <a:ext cx="292608" cy="292608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321808" y="5870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SERVICES</a:t>
            </a:r>
            <a:endParaRPr lang="en-US" sz="1200" dirty="0"/>
          </a:p>
        </p:txBody>
      </p:sp>
      <p:sp>
        <p:nvSpPr>
          <p:cNvPr id="61" name="Text 47"/>
          <p:cNvSpPr/>
          <p:nvPr/>
        </p:nvSpPr>
        <p:spPr>
          <a:xfrm>
            <a:off x="5029200" y="6217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 ·  Azure OpenAI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 ·  Embedding API</a:t>
            </a:r>
            <a:endParaRPr lang="en-US" sz="950" dirty="0"/>
          </a:p>
        </p:txBody>
      </p:sp>
      <p:sp>
        <p:nvSpPr>
          <p:cNvPr id="62" name="Shape 48"/>
          <p:cNvSpPr/>
          <p:nvPr/>
        </p:nvSpPr>
        <p:spPr>
          <a:xfrm>
            <a:off x="8366760" y="5705856"/>
            <a:ext cx="3410712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9640" y="5888736"/>
            <a:ext cx="292608" cy="292608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8933688" y="58704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65" name="Text 50"/>
          <p:cNvSpPr/>
          <p:nvPr/>
        </p:nvSpPr>
        <p:spPr>
          <a:xfrm>
            <a:off x="8641080" y="6217920"/>
            <a:ext cx="2770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·  Grafana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 ·  Celery Flower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The Manual Triage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starts from a blank page — engineers reconstruct context by hand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603504" cy="6035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76479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lands in ServiceNow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176479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context. Engineer reads raw description only.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0392" y="2414016"/>
            <a:ext cx="0" cy="274320"/>
          </a:xfrm>
          <a:prstGeom prst="line">
            <a:avLst/>
          </a:prstGeom>
          <a:noFill/>
          <a:ln w="19050">
            <a:solidFill>
              <a:srgbClr val="C9CE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816352"/>
            <a:ext cx="603504" cy="6035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163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269748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77063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Manually search KBs &amp; past tickets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23560" y="277063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across siloed systems — KBs, wikis, logs, chat history.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0392" y="3419856"/>
            <a:ext cx="0" cy="274320"/>
          </a:xfrm>
          <a:prstGeom prst="line">
            <a:avLst/>
          </a:prstGeom>
          <a:noFill/>
          <a:ln w="19050">
            <a:solidFill>
              <a:srgbClr val="C9CED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822192"/>
            <a:ext cx="603504" cy="6035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221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370332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377647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Cross-reference logs &amp; CMDB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23560" y="377647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checks Dynatrace/AppDynamics and CMDB for affected services.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0392" y="4425696"/>
            <a:ext cx="0" cy="274320"/>
          </a:xfrm>
          <a:prstGeom prst="line">
            <a:avLst/>
          </a:prstGeom>
          <a:noFill/>
          <a:ln w="19050">
            <a:solidFill>
              <a:srgbClr val="C9CED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4828032"/>
            <a:ext cx="603504" cy="6035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28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70916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7823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judgment, often re-deriving fixes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23560" y="478231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Reinvents resolutions already documented in older, similar tickets.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" y="5431536"/>
            <a:ext cx="0" cy="274320"/>
          </a:xfrm>
          <a:prstGeom prst="line">
            <a:avLst/>
          </a:prstGeom>
          <a:noFill/>
          <a:ln w="19050">
            <a:solidFill>
              <a:srgbClr val="C9CED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5833872"/>
            <a:ext cx="603504" cy="603504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833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1600" y="571500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57881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&amp; document (inconsistently)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23560" y="578815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notes vary by engineer — no consistent format or learning loop.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Tomorrow: The AI-Powered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assembled automatically the moment a ticket is created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6596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69164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13315C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176479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created in ServiceNow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23560" y="176479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fires a signed webhook the instant an incident is created or updated.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0392" y="2414016"/>
            <a:ext cx="0" cy="274320"/>
          </a:xfrm>
          <a:prstGeom prst="line">
            <a:avLst/>
          </a:prstGeom>
          <a:noFill/>
          <a:ln w="19050">
            <a:solidFill>
              <a:srgbClr val="3A517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281635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9718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71600" y="269748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13315C"/>
          </a:solidFill>
          <a:ln/>
        </p:spPr>
      </p:sp>
      <p:sp>
        <p:nvSpPr>
          <p:cNvPr id="13" name="Text 9"/>
          <p:cNvSpPr/>
          <p:nvPr/>
        </p:nvSpPr>
        <p:spPr>
          <a:xfrm>
            <a:off x="1600200" y="277063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retrieves context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23560" y="277063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search over tickets, KBs, runbooks and logs — fused via RRF.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50392" y="3419856"/>
            <a:ext cx="0" cy="274320"/>
          </a:xfrm>
          <a:prstGeom prst="line">
            <a:avLst/>
          </a:prstGeom>
          <a:noFill/>
          <a:ln w="19050">
            <a:solidFill>
              <a:srgbClr val="3A517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48640" y="382219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77640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71600" y="370332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13315C"/>
          </a:solidFill>
          <a:ln/>
        </p:spPr>
      </p:sp>
      <p:sp>
        <p:nvSpPr>
          <p:cNvPr id="19" name="Text 14"/>
          <p:cNvSpPr/>
          <p:nvPr/>
        </p:nvSpPr>
        <p:spPr>
          <a:xfrm>
            <a:off x="1600200" y="377647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masked, governance applied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623560" y="377647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anonymized before anything reaches the LLM; RBAC + audit trail throughout.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50392" y="4425696"/>
            <a:ext cx="0" cy="274320"/>
          </a:xfrm>
          <a:prstGeom prst="line">
            <a:avLst/>
          </a:prstGeom>
          <a:noFill/>
          <a:ln w="19050">
            <a:solidFill>
              <a:srgbClr val="3A517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548640" y="482803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983480"/>
            <a:ext cx="292608" cy="29260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371600" y="470916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13315C"/>
          </a:solidFill>
          <a:ln/>
        </p:spPr>
      </p:sp>
      <p:sp>
        <p:nvSpPr>
          <p:cNvPr id="25" name="Text 19"/>
          <p:cNvSpPr/>
          <p:nvPr/>
        </p:nvSpPr>
        <p:spPr>
          <a:xfrm>
            <a:off x="1600200" y="47823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drafts the recommendation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623560" y="478231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probable root cause, triage steps, remediation, confidence score.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50392" y="5431536"/>
            <a:ext cx="0" cy="274320"/>
          </a:xfrm>
          <a:prstGeom prst="line">
            <a:avLst/>
          </a:prstGeom>
          <a:noFill/>
          <a:ln w="19050">
            <a:solidFill>
              <a:srgbClr val="3A5170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48640" y="583387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989320"/>
            <a:ext cx="292608" cy="29260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371600" y="5715000"/>
            <a:ext cx="9966960" cy="841248"/>
          </a:xfrm>
          <a:prstGeom prst="roundRect">
            <a:avLst>
              <a:gd name="adj" fmla="val 6522"/>
            </a:avLst>
          </a:prstGeom>
          <a:solidFill>
            <a:srgbClr val="13315C"/>
          </a:solidFill>
          <a:ln/>
        </p:spPr>
      </p:sp>
      <p:sp>
        <p:nvSpPr>
          <p:cNvPr id="31" name="Text 24"/>
          <p:cNvSpPr/>
          <p:nvPr/>
        </p:nvSpPr>
        <p:spPr>
          <a:xfrm>
            <a:off x="1600200" y="57881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in the engineer workspace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5623560" y="578815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similar incidents shown directly in ServiceNow; engineer accepts, edits, or rates.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 vs. AI-Powered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incident, two very different engineer experiences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150876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7830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Assistant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0487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33172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searches KBs, past tickets &amp; logs across siloed tools</a:t>
            </a:r>
            <a:endParaRPr lang="en-US" sz="108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1810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04495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time varies wildly by engineer experience — directly impacts MTTR</a:t>
            </a:r>
            <a:endParaRPr lang="en-US" sz="108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31336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375818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detection — similar past incidents are easy to miss</a:t>
            </a:r>
            <a:endParaRPr lang="en-US" sz="108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4456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447141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notes are inconsistent, written from scratch each time</a:t>
            </a:r>
            <a:endParaRPr lang="en-US" sz="108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257800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88720" y="51846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 — past mistakes can be repeated</a:t>
            </a:r>
            <a:endParaRPr lang="en-US" sz="108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971032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188720" y="589788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to L3 happen often, even for previously-solved issues</a:t>
            </a:r>
            <a:endParaRPr lang="en-US" sz="108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404872"/>
            <a:ext cx="237744" cy="23774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812280" y="233172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(BM25 + vector + RRF) surfaces relevant context automatically</a:t>
            </a:r>
            <a:endParaRPr lang="en-US" sz="108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118104"/>
            <a:ext cx="237744" cy="23774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812280" y="304495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generated within seconds of ticket creation, cutting triage time</a:t>
            </a:r>
            <a:endParaRPr lang="en-US" sz="108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3831336"/>
            <a:ext cx="237744" cy="237744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812280" y="375818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Similar-incident clustering surfaces root-cause patterns proactively</a:t>
            </a:r>
            <a:endParaRPr lang="en-US" sz="108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4544568"/>
            <a:ext cx="237744" cy="237744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812280" y="447141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consistent draft resolution notes auto-suggested for every ticket</a:t>
            </a:r>
            <a:endParaRPr lang="en-US" sz="108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5257800"/>
            <a:ext cx="237744" cy="237744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812280" y="51846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feedback (useful / not useful) continuously re-weights future recommendations</a:t>
            </a:r>
            <a:endParaRPr lang="en-US" sz="108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5971032"/>
            <a:ext cx="237744" cy="237744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6812280" y="589788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guidance reduces unnecessary escalations to L3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Incident Analysis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from webhook to recommendation, in seconds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651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246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/webhook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(incident.created)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29612" y="2743200"/>
            <a:ext cx="201168" cy="0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3078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7865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86" y="21214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2222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+ Mask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4050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check, then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anonymization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111752" y="2743200"/>
            <a:ext cx="201168" cy="0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1292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6079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26" y="21214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0436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2264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(Pinecone)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BM25, RRF merge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993892" y="2743200"/>
            <a:ext cx="201168" cy="0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19506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4293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666" y="212140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8650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0478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+ steps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876032" y="2743200"/>
            <a:ext cx="201168" cy="0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07720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2507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806" y="212140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6864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18692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recommendation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PostgreSQL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758172" y="2743200"/>
            <a:ext cx="201168" cy="0"/>
          </a:xfrm>
          <a:prstGeom prst="line">
            <a:avLst/>
          </a:prstGeom>
          <a:noFill/>
          <a:ln w="25400">
            <a:solidFill>
              <a:srgbClr val="9AA7B5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9959340" y="1828800"/>
            <a:ext cx="1680972" cy="182880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507218" y="2011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946" y="2121408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50780" y="2743200"/>
            <a:ext cx="14980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Engineer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0069068" y="3063240"/>
            <a:ext cx="146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recommendation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workspace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</p:spPr>
      </p:sp>
      <p:sp>
        <p:nvSpPr>
          <p:cNvPr id="40" name="Text 32"/>
          <p:cNvSpPr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receives an immediate 202 response; heavy lifting runs async on Celery so the UI never blocks.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below 0.6 confidence are auto-flagged for L3 escalation review.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retrieval, generation, recommendation served — is written to the audit log for compliance.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Feedback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improves automatically as engineers use the assistant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920240"/>
            <a:ext cx="2514600" cy="246888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513332" y="219456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3408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Engineer rates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/ not useful feedback captured on every served recommendation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99816" y="315468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19856" y="1920240"/>
            <a:ext cx="2514600" cy="246888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</p:spPr>
      </p:sp>
      <p:sp>
        <p:nvSpPr>
          <p:cNvPr id="11" name="Shape 8"/>
          <p:cNvSpPr/>
          <p:nvPr/>
        </p:nvSpPr>
        <p:spPr>
          <a:xfrm>
            <a:off x="4347972" y="219456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3408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Stored centrally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02736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FeedbackRecord persisted in PostgreSQL with the original ticket context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34456" y="315468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54496" y="1920240"/>
            <a:ext cx="2514600" cy="246888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82612" y="219456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34086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Periodic aggregation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37376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job re-scores each knowledge source every 15 minutes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769096" y="3154680"/>
            <a:ext cx="320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89136" y="1920240"/>
            <a:ext cx="2514600" cy="246888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17252" y="219456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234086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6296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Smarter retrieval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72016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Laplace-smoothed quality scores boost trusted sources, demote weak ones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85216" y="46177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into retrieval ranking for the next incident →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the assistant, and how sensitive data is protected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1F5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incidents &amp; service requests (historical + real-time)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notes, resolution notes, escalation patterns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data for impacted services / applications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articles, SOPs, troubleshooting guides, runbooks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logs — Dynatrace, AppDynamics (where applicable)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25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755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Compliance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22860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anonymization runs before data reaches embeddings or the LLM (emails, phones, IPs, names, keys)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aligned to L2 / L3 / admin privileges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logging of every analysis, recommendation, and feedback event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/ anonymized datasets used for model testing and evaluation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preprocessing for ticket classification, summarization, and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built across this hackathon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Orchestration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Celery + Beat · Pydantic settings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8653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373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RAG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3774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· Anthropic Claude · Hybrid BM25 + dense retrieval · RRF fusion · LangSmith tracing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8653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373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37744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· Pinecone · Redis (cache &amp; queue)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062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PII anonymizer (regex + NER) · RBAC · Structured audit logger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33425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062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Integration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484632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AngularJS sidebar widget · HMAC-signed business rule webhook · Flow Designer export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3342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2062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Ops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484632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(8-panel dashboard) · Docker Compose · Kubernetes manifests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this assistant is designed to move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22376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8136" y="3611880"/>
            <a:ext cx="2423160" cy="0"/>
          </a:xfrm>
          <a:prstGeom prst="line">
            <a:avLst/>
          </a:prstGeom>
          <a:noFill/>
          <a:ln w="12700">
            <a:solidFill>
              <a:srgbClr val="3A51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Context-rich recommendations cut the time engineers spend searching for relevant history.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17136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Resolution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82896" y="3611880"/>
            <a:ext cx="2423160" cy="0"/>
          </a:xfrm>
          <a:prstGeom prst="line">
            <a:avLst/>
          </a:prstGeom>
          <a:noFill/>
          <a:ln w="12700">
            <a:solidFill>
              <a:srgbClr val="3A51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root-cause + remediation steps reduce back-and-forth re-opens.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11896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Escalations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77656" y="3611880"/>
            <a:ext cx="2423160" cy="0"/>
          </a:xfrm>
          <a:prstGeom prst="line">
            <a:avLst/>
          </a:prstGeom>
          <a:noFill/>
          <a:ln w="12700">
            <a:solidFill>
              <a:srgbClr val="3A51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D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guidance resolves more incidents correctly at L2.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" y="5303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via engineer feedback ratings, ServiceNow resolution timestamps, and escalation logs.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2860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L2 Support Assistant — questions &amp;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GenAI-Powered L2 Support Assistant</dc:title>
  <dc:subject>PptxGenJS Presentation</dc:subject>
  <dc:creator>nz</dc:creator>
  <cp:lastModifiedBy>nz</cp:lastModifiedBy>
  <cp:revision>1</cp:revision>
  <dcterms:created xsi:type="dcterms:W3CDTF">2026-07-01T01:21:00Z</dcterms:created>
  <dcterms:modified xsi:type="dcterms:W3CDTF">2026-07-01T01:21:00Z</dcterms:modified>
</cp:coreProperties>
</file>